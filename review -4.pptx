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7EC75E-B33F-4BFD-B3D6-F3FBF0E1708C}" v="3" dt="2026-10-02T18:15:57.0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48" d="100"/>
          <a:sy n="48" d="100"/>
        </p:scale>
        <p:origin x="67" y="9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sha Rani Kuppa" userId="a637103af95fe8ae" providerId="LiveId" clId="{639ECAB8-18B7-4FB0-ADC7-A5EB2DD49A77}"/>
    <pc:docChg chg="custSel modSld">
      <pc:chgData name="Usha Rani Kuppa" userId="a637103af95fe8ae" providerId="LiveId" clId="{639ECAB8-18B7-4FB0-ADC7-A5EB2DD49A77}" dt="2026-10-02T18:15:57.088" v="7" actId="14100"/>
      <pc:docMkLst>
        <pc:docMk/>
      </pc:docMkLst>
      <pc:sldChg chg="addSp modSp mod">
        <pc:chgData name="Usha Rani Kuppa" userId="a637103af95fe8ae" providerId="LiveId" clId="{639ECAB8-18B7-4FB0-ADC7-A5EB2DD49A77}" dt="2026-10-02T18:15:57.088" v="7" actId="14100"/>
        <pc:sldMkLst>
          <pc:docMk/>
          <pc:sldMk cId="2224251994" sldId="256"/>
        </pc:sldMkLst>
        <pc:spChg chg="mod">
          <ac:chgData name="Usha Rani Kuppa" userId="a637103af95fe8ae" providerId="LiveId" clId="{639ECAB8-18B7-4FB0-ADC7-A5EB2DD49A77}" dt="2026-10-02T18:15:30.714" v="2" actId="14100"/>
          <ac:spMkLst>
            <pc:docMk/>
            <pc:sldMk cId="2224251994" sldId="256"/>
            <ac:spMk id="2" creationId="{B47CCBD7-C35B-42D8-7B75-1DFCD1184CF4}"/>
          </ac:spMkLst>
        </pc:spChg>
        <pc:spChg chg="mod">
          <ac:chgData name="Usha Rani Kuppa" userId="a637103af95fe8ae" providerId="LiveId" clId="{639ECAB8-18B7-4FB0-ADC7-A5EB2DD49A77}" dt="2026-10-02T18:15:37.715" v="4" actId="27636"/>
          <ac:spMkLst>
            <pc:docMk/>
            <pc:sldMk cId="2224251994" sldId="256"/>
            <ac:spMk id="3" creationId="{D07ACD64-4081-A445-5952-42C8EBC4846A}"/>
          </ac:spMkLst>
        </pc:spChg>
        <pc:picChg chg="add mod">
          <ac:chgData name="Usha Rani Kuppa" userId="a637103af95fe8ae" providerId="LiveId" clId="{639ECAB8-18B7-4FB0-ADC7-A5EB2DD49A77}" dt="2026-10-02T18:15:57.088" v="7" actId="14100"/>
          <ac:picMkLst>
            <pc:docMk/>
            <pc:sldMk cId="2224251994" sldId="256"/>
            <ac:picMk id="7" creationId="{F03B2DC8-5F8C-59A9-691A-976947E7D13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50E6F-3219-AC08-5B77-D7FE4DA49E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80E5BA-2F84-AA9B-8ED4-84AB47AC20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A0E452-CBCC-1727-B38F-810E931AD200}"/>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5" name="Footer Placeholder 4">
            <a:extLst>
              <a:ext uri="{FF2B5EF4-FFF2-40B4-BE49-F238E27FC236}">
                <a16:creationId xmlns:a16="http://schemas.microsoft.com/office/drawing/2014/main" id="{3A9AFE18-38EA-4D38-D115-A40DBBDC01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1F0354-A88F-D259-3B67-139E2DF5C73C}"/>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2250361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10EFB-F658-B5A6-B9A9-9642C266BE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6801CD-80E7-7EFA-6193-2C0E51348F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AFC7AD-64F4-BFC7-D09E-54EA939D742C}"/>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5" name="Footer Placeholder 4">
            <a:extLst>
              <a:ext uri="{FF2B5EF4-FFF2-40B4-BE49-F238E27FC236}">
                <a16:creationId xmlns:a16="http://schemas.microsoft.com/office/drawing/2014/main" id="{4FFDF5C9-1D3F-1F1A-61B8-0E018C3134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BA4289-43C2-9571-A457-452EF6C730D7}"/>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1758439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51A1-509A-A7C4-1704-1FA474D28C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ACB196-AFC4-358F-3FC8-972AA02F5E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8A717-67CF-6F93-7EFC-D36DDA2D9293}"/>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5" name="Footer Placeholder 4">
            <a:extLst>
              <a:ext uri="{FF2B5EF4-FFF2-40B4-BE49-F238E27FC236}">
                <a16:creationId xmlns:a16="http://schemas.microsoft.com/office/drawing/2014/main" id="{88130DA9-2866-937D-9BB1-243A0547A9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0F723A-AF8A-BE0A-56DA-31AA5E41430D}"/>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3107325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EAF3-0480-3411-FB90-F203300A0D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8B0528-4F44-2509-10C5-7B78B2DD9B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5AC307-E622-0BA3-C565-383B46E8E0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61CA64F-9B01-D081-0098-4B4F651DBD6A}"/>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6" name="Footer Placeholder 5">
            <a:extLst>
              <a:ext uri="{FF2B5EF4-FFF2-40B4-BE49-F238E27FC236}">
                <a16:creationId xmlns:a16="http://schemas.microsoft.com/office/drawing/2014/main" id="{CC76D469-8250-6F92-46BF-970D498D78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F038C9-1371-7F42-3F39-6344EB643775}"/>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301687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52C0-465D-4A3F-FE8F-1645277064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6E194D-C2EF-D0B9-7FAD-310B01045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B009E7-39C8-9FD7-B0CD-1D41388A36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0D83CA-D46A-CD3C-68C8-99D0F7F7C2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98DA0D-BBF2-5786-3388-2B004E4BF3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AFB163-4D5E-177A-9FF6-611D1D7FF24F}"/>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8" name="Footer Placeholder 7">
            <a:extLst>
              <a:ext uri="{FF2B5EF4-FFF2-40B4-BE49-F238E27FC236}">
                <a16:creationId xmlns:a16="http://schemas.microsoft.com/office/drawing/2014/main" id="{715B1C97-4731-5CC0-AED2-3B86551C6D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D244C76-0529-2557-90BA-DF12EC190E7A}"/>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1921403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89DE-807E-CCC4-4F3E-541F06CE3A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1EDC778-57A5-ECB5-379F-87EE1D582AAA}"/>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4" name="Footer Placeholder 3">
            <a:extLst>
              <a:ext uri="{FF2B5EF4-FFF2-40B4-BE49-F238E27FC236}">
                <a16:creationId xmlns:a16="http://schemas.microsoft.com/office/drawing/2014/main" id="{6BD305F7-BDCD-9A6D-DD8A-71618D556D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616BAE-4272-ECC2-6E8E-C8DDB3CA0BF9}"/>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4156900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5075C0-A8BB-1764-BBE0-9330CEAB0090}"/>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3" name="Footer Placeholder 2">
            <a:extLst>
              <a:ext uri="{FF2B5EF4-FFF2-40B4-BE49-F238E27FC236}">
                <a16:creationId xmlns:a16="http://schemas.microsoft.com/office/drawing/2014/main" id="{4EAF9E4F-206E-D716-DC12-7217CC5E52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206F8E-B756-BF6A-33D7-329CBF4B8FE1}"/>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3424603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B980-98AD-988E-07D4-2531FCC85B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701C9C-AAEB-DEB2-3AFD-16B286BFA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B0ACAE-766F-D8AE-DEBD-C66A397B9A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EBCF3-216A-896D-B5A6-A72B90B55907}"/>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6" name="Footer Placeholder 5">
            <a:extLst>
              <a:ext uri="{FF2B5EF4-FFF2-40B4-BE49-F238E27FC236}">
                <a16:creationId xmlns:a16="http://schemas.microsoft.com/office/drawing/2014/main" id="{9B34C326-2BCC-B355-2529-C974E57EFF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324B20-5175-E2AF-B018-B11FFF015259}"/>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308980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6F46-C40E-6C51-8665-99313A4C07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A114592-C284-A7E2-CBC4-69FF24B3181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FFF492-1F6F-5C4D-C01C-4782973EEE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5013CC-FA3F-8AB5-37BB-12B28BE1247B}"/>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6" name="Footer Placeholder 5">
            <a:extLst>
              <a:ext uri="{FF2B5EF4-FFF2-40B4-BE49-F238E27FC236}">
                <a16:creationId xmlns:a16="http://schemas.microsoft.com/office/drawing/2014/main" id="{D7F4EA87-3F6D-8A5C-2056-A5FF2F6ACF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C33B7A-2EA2-0547-8842-1E3048FD6034}"/>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51133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A38A4-0A87-6C07-0918-97CCAB2A5C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B49659-D79F-A117-4207-841E37B424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502966-2670-D269-182C-3AE10C4094C0}"/>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5" name="Footer Placeholder 4">
            <a:extLst>
              <a:ext uri="{FF2B5EF4-FFF2-40B4-BE49-F238E27FC236}">
                <a16:creationId xmlns:a16="http://schemas.microsoft.com/office/drawing/2014/main" id="{FE03EB06-F953-DCB1-FE5C-FEC2B2C6A7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E8EC36-379F-CBB4-24E9-3365B786174E}"/>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3495320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50FA55-54AD-7E07-C8CA-F730076364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18C47D-40D6-B7EC-0A9E-51C2282EB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3349F9-F44D-8BBB-E906-55B5271B73B9}"/>
              </a:ext>
            </a:extLst>
          </p:cNvPr>
          <p:cNvSpPr>
            <a:spLocks noGrp="1"/>
          </p:cNvSpPr>
          <p:nvPr>
            <p:ph type="dt" sz="half" idx="10"/>
          </p:nvPr>
        </p:nvSpPr>
        <p:spPr/>
        <p:txBody>
          <a:bodyPr/>
          <a:lstStyle/>
          <a:p>
            <a:fld id="{45D5AC1B-9E09-447C-9933-89071EC08507}" type="datetimeFigureOut">
              <a:rPr lang="en-IN" smtClean="0"/>
              <a:t>02-10-2026</a:t>
            </a:fld>
            <a:endParaRPr lang="en-IN"/>
          </a:p>
        </p:txBody>
      </p:sp>
      <p:sp>
        <p:nvSpPr>
          <p:cNvPr id="5" name="Footer Placeholder 4">
            <a:extLst>
              <a:ext uri="{FF2B5EF4-FFF2-40B4-BE49-F238E27FC236}">
                <a16:creationId xmlns:a16="http://schemas.microsoft.com/office/drawing/2014/main" id="{89D72B74-32E3-9356-D53E-8ACD0727B8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52CF2D-90D2-527D-3834-32BEDCAC0A7A}"/>
              </a:ext>
            </a:extLst>
          </p:cNvPr>
          <p:cNvSpPr>
            <a:spLocks noGrp="1"/>
          </p:cNvSpPr>
          <p:nvPr>
            <p:ph type="sldNum" sz="quarter" idx="12"/>
          </p:nvPr>
        </p:nvSpPr>
        <p:spPr/>
        <p:txBody>
          <a:bodyPr/>
          <a:lstStyle/>
          <a:p>
            <a:fld id="{AC40B65B-98C5-4829-8259-2622224AD53C}" type="slidenum">
              <a:rPr lang="en-IN" smtClean="0"/>
              <a:t>‹#›</a:t>
            </a:fld>
            <a:endParaRPr lang="en-IN"/>
          </a:p>
        </p:txBody>
      </p:sp>
    </p:spTree>
    <p:extLst>
      <p:ext uri="{BB962C8B-B14F-4D97-AF65-F5344CB8AC3E}">
        <p14:creationId xmlns:p14="http://schemas.microsoft.com/office/powerpoint/2010/main" val="1255326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562992-68CF-FF02-7DE1-644DEDDB3F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807FF8-4A57-CFAD-3190-89E02D1A90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7FFC46-1618-FC8D-B408-D54A994E63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D5AC1B-9E09-447C-9933-89071EC08507}" type="datetimeFigureOut">
              <a:rPr lang="en-IN" smtClean="0"/>
              <a:t>02-10-2026</a:t>
            </a:fld>
            <a:endParaRPr lang="en-IN"/>
          </a:p>
        </p:txBody>
      </p:sp>
      <p:sp>
        <p:nvSpPr>
          <p:cNvPr id="5" name="Footer Placeholder 4">
            <a:extLst>
              <a:ext uri="{FF2B5EF4-FFF2-40B4-BE49-F238E27FC236}">
                <a16:creationId xmlns:a16="http://schemas.microsoft.com/office/drawing/2014/main" id="{D789245D-8B11-8AE0-B54C-3320604411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2160BA0-4BA2-0A02-1860-9EB82AC0D7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40B65B-98C5-4829-8259-2622224AD53C}" type="slidenum">
              <a:rPr lang="en-IN" smtClean="0"/>
              <a:t>‹#›</a:t>
            </a:fld>
            <a:endParaRPr lang="en-IN"/>
          </a:p>
        </p:txBody>
      </p:sp>
    </p:spTree>
    <p:extLst>
      <p:ext uri="{BB962C8B-B14F-4D97-AF65-F5344CB8AC3E}">
        <p14:creationId xmlns:p14="http://schemas.microsoft.com/office/powerpoint/2010/main" val="951324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CCBD7-C35B-42D8-7B75-1DFCD1184CF4}"/>
              </a:ext>
            </a:extLst>
          </p:cNvPr>
          <p:cNvSpPr>
            <a:spLocks noGrp="1"/>
          </p:cNvSpPr>
          <p:nvPr>
            <p:ph type="ctrTitle"/>
          </p:nvPr>
        </p:nvSpPr>
        <p:spPr>
          <a:xfrm>
            <a:off x="1652336" y="1122363"/>
            <a:ext cx="9015663" cy="1011237"/>
          </a:xfrm>
        </p:spPr>
        <p:txBody>
          <a:bodyPr/>
          <a:lstStyle/>
          <a:p>
            <a:endParaRPr lang="en-IN" dirty="0"/>
          </a:p>
        </p:txBody>
      </p:sp>
      <p:sp>
        <p:nvSpPr>
          <p:cNvPr id="3" name="Subtitle 2">
            <a:extLst>
              <a:ext uri="{FF2B5EF4-FFF2-40B4-BE49-F238E27FC236}">
                <a16:creationId xmlns:a16="http://schemas.microsoft.com/office/drawing/2014/main" id="{D07ACD64-4081-A445-5952-42C8EBC4846A}"/>
              </a:ext>
            </a:extLst>
          </p:cNvPr>
          <p:cNvSpPr>
            <a:spLocks noGrp="1"/>
          </p:cNvSpPr>
          <p:nvPr>
            <p:ph type="subTitle" idx="1"/>
          </p:nvPr>
        </p:nvSpPr>
        <p:spPr>
          <a:xfrm>
            <a:off x="1652336" y="2294021"/>
            <a:ext cx="9015664" cy="2963779"/>
          </a:xfrm>
        </p:spPr>
        <p:txBody>
          <a:bodyPr>
            <a:normAutofit fontScale="85000" lnSpcReduction="20000"/>
          </a:bodyPr>
          <a:lstStyle/>
          <a:p>
            <a:r>
              <a:rPr lang="en-US" sz="4000" b="1" dirty="0">
                <a:solidFill>
                  <a:schemeClr val="accent5">
                    <a:lumMod val="60000"/>
                    <a:lumOff val="40000"/>
                  </a:schemeClr>
                </a:solidFill>
              </a:rPr>
              <a:t>Hostel and Mess Manage System</a:t>
            </a:r>
          </a:p>
          <a:p>
            <a:r>
              <a:rPr lang="en-US" b="1" dirty="0">
                <a:solidFill>
                  <a:srgbClr val="FF0000"/>
                </a:solidFill>
              </a:rPr>
              <a:t>Team Members Details</a:t>
            </a:r>
          </a:p>
          <a:p>
            <a:r>
              <a:rPr lang="en-US" dirty="0"/>
              <a:t>Usharani-2520090049</a:t>
            </a:r>
          </a:p>
          <a:p>
            <a:r>
              <a:rPr lang="en-US" dirty="0"/>
              <a:t>Mrudula-2520090073</a:t>
            </a:r>
          </a:p>
          <a:p>
            <a:r>
              <a:rPr lang="en-US" dirty="0"/>
              <a:t>Navya-2520090189</a:t>
            </a:r>
          </a:p>
          <a:p>
            <a:r>
              <a:rPr lang="en-US" dirty="0"/>
              <a:t>II Year  </a:t>
            </a:r>
            <a:r>
              <a:rPr lang="en-US" dirty="0" err="1"/>
              <a:t>B.Tech</a:t>
            </a:r>
            <a:r>
              <a:rPr lang="en-US" dirty="0"/>
              <a:t> – I Semester – CS &amp; IT</a:t>
            </a:r>
          </a:p>
          <a:p>
            <a:r>
              <a:rPr lang="en-US" b="1" dirty="0">
                <a:solidFill>
                  <a:schemeClr val="tx1">
                    <a:lumMod val="95000"/>
                    <a:lumOff val="5000"/>
                  </a:schemeClr>
                </a:solidFill>
              </a:rPr>
              <a:t>Under the Guidance of</a:t>
            </a:r>
          </a:p>
          <a:p>
            <a:r>
              <a:rPr lang="en-US" b="1" dirty="0">
                <a:solidFill>
                  <a:srgbClr val="FF0000"/>
                </a:solidFill>
              </a:rPr>
              <a:t>Dr .M . Gayatri</a:t>
            </a:r>
            <a:endParaRPr lang="en-IN" b="1" dirty="0">
              <a:solidFill>
                <a:srgbClr val="FF0000"/>
              </a:solidFill>
            </a:endParaRPr>
          </a:p>
          <a:p>
            <a:endParaRPr lang="en-IN" dirty="0"/>
          </a:p>
        </p:txBody>
      </p:sp>
      <p:sp>
        <p:nvSpPr>
          <p:cNvPr id="4" name="Rectangle 3">
            <a:extLst>
              <a:ext uri="{FF2B5EF4-FFF2-40B4-BE49-F238E27FC236}">
                <a16:creationId xmlns:a16="http://schemas.microsoft.com/office/drawing/2014/main" id="{03FFFFDD-D583-16F0-97D2-2AF33D78B0EA}"/>
              </a:ext>
            </a:extLst>
          </p:cNvPr>
          <p:cNvSpPr/>
          <p:nvPr/>
        </p:nvSpPr>
        <p:spPr>
          <a:xfrm>
            <a:off x="0" y="0"/>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6992F16F-7377-DD47-779B-D55C59C56362}"/>
              </a:ext>
            </a:extLst>
          </p:cNvPr>
          <p:cNvSpPr/>
          <p:nvPr/>
        </p:nvSpPr>
        <p:spPr>
          <a:xfrm>
            <a:off x="0" y="6104021"/>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1">
            <a:extLst>
              <a:ext uri="{FF2B5EF4-FFF2-40B4-BE49-F238E27FC236}">
                <a16:creationId xmlns:a16="http://schemas.microsoft.com/office/drawing/2014/main" id="{F03B2DC8-5F8C-59A9-691A-976947E7D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753979"/>
            <a:ext cx="9385300" cy="1395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425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C53C-7E03-661A-62C1-9324A049007A}"/>
              </a:ext>
            </a:extLst>
          </p:cNvPr>
          <p:cNvSpPr>
            <a:spLocks noGrp="1"/>
          </p:cNvSpPr>
          <p:nvPr>
            <p:ph type="title"/>
          </p:nvPr>
        </p:nvSpPr>
        <p:spPr>
          <a:xfrm>
            <a:off x="838200" y="783098"/>
            <a:ext cx="10515600" cy="628608"/>
          </a:xfrm>
        </p:spPr>
        <p:txBody>
          <a:bodyPr>
            <a:normAutofit fontScale="90000"/>
          </a:bodyPr>
          <a:lstStyle/>
          <a:p>
            <a:r>
              <a:rPr lang="en-US" dirty="0"/>
              <a:t>ACCURACY OF RESULTS</a:t>
            </a:r>
            <a:endParaRPr lang="en-IN" dirty="0"/>
          </a:p>
        </p:txBody>
      </p:sp>
      <p:graphicFrame>
        <p:nvGraphicFramePr>
          <p:cNvPr id="8" name="Content Placeholder 7">
            <a:extLst>
              <a:ext uri="{FF2B5EF4-FFF2-40B4-BE49-F238E27FC236}">
                <a16:creationId xmlns:a16="http://schemas.microsoft.com/office/drawing/2014/main" id="{A5740062-68E6-D7A6-C998-96114B5D35E9}"/>
              </a:ext>
            </a:extLst>
          </p:cNvPr>
          <p:cNvGraphicFramePr>
            <a:graphicFrameLocks noGrp="1"/>
          </p:cNvGraphicFramePr>
          <p:nvPr>
            <p:ph idx="1"/>
            <p:extLst>
              <p:ext uri="{D42A27DB-BD31-4B8C-83A1-F6EECF244321}">
                <p14:modId xmlns:p14="http://schemas.microsoft.com/office/powerpoint/2010/main" val="2477698807"/>
              </p:ext>
            </p:extLst>
          </p:nvPr>
        </p:nvGraphicFramePr>
        <p:xfrm>
          <a:off x="838200" y="1411707"/>
          <a:ext cx="10515600" cy="4663797"/>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185023998"/>
                    </a:ext>
                  </a:extLst>
                </a:gridCol>
                <a:gridCol w="2628900">
                  <a:extLst>
                    <a:ext uri="{9D8B030D-6E8A-4147-A177-3AD203B41FA5}">
                      <a16:colId xmlns:a16="http://schemas.microsoft.com/office/drawing/2014/main" val="3009915539"/>
                    </a:ext>
                  </a:extLst>
                </a:gridCol>
                <a:gridCol w="2628900">
                  <a:extLst>
                    <a:ext uri="{9D8B030D-6E8A-4147-A177-3AD203B41FA5}">
                      <a16:colId xmlns:a16="http://schemas.microsoft.com/office/drawing/2014/main" val="1469094657"/>
                    </a:ext>
                  </a:extLst>
                </a:gridCol>
                <a:gridCol w="2628900">
                  <a:extLst>
                    <a:ext uri="{9D8B030D-6E8A-4147-A177-3AD203B41FA5}">
                      <a16:colId xmlns:a16="http://schemas.microsoft.com/office/drawing/2014/main" val="3408829266"/>
                    </a:ext>
                  </a:extLst>
                </a:gridCol>
              </a:tblGrid>
              <a:tr h="509796">
                <a:tc>
                  <a:txBody>
                    <a:bodyPr/>
                    <a:lstStyle/>
                    <a:p>
                      <a:r>
                        <a:rPr lang="en-US" sz="1800" dirty="0"/>
                        <a:t>Metric</a:t>
                      </a:r>
                      <a:endParaRPr lang="en-IN" sz="1800" dirty="0"/>
                    </a:p>
                  </a:txBody>
                  <a:tcPr marL="91431" marR="91431" marT="45702" marB="45702"/>
                </a:tc>
                <a:tc>
                  <a:txBody>
                    <a:bodyPr/>
                    <a:lstStyle/>
                    <a:p>
                      <a:r>
                        <a:rPr lang="en-US" sz="1800" dirty="0"/>
                        <a:t>Manual system</a:t>
                      </a:r>
                      <a:endParaRPr lang="en-IN" sz="1800" dirty="0"/>
                    </a:p>
                  </a:txBody>
                  <a:tcPr marL="91431" marR="91431" marT="45702" marB="45702"/>
                </a:tc>
                <a:tc>
                  <a:txBody>
                    <a:bodyPr/>
                    <a:lstStyle/>
                    <a:p>
                      <a:r>
                        <a:rPr lang="en-US" sz="1800" dirty="0"/>
                        <a:t>Proposed system </a:t>
                      </a:r>
                      <a:endParaRPr lang="en-IN" sz="1800" dirty="0"/>
                    </a:p>
                  </a:txBody>
                  <a:tcPr marL="91431" marR="91431" marT="45702" marB="45702"/>
                </a:tc>
                <a:tc>
                  <a:txBody>
                    <a:bodyPr/>
                    <a:lstStyle/>
                    <a:p>
                      <a:r>
                        <a:rPr lang="en-US" sz="1800" dirty="0"/>
                        <a:t>improvement</a:t>
                      </a:r>
                      <a:endParaRPr lang="en-IN" sz="1800" dirty="0"/>
                    </a:p>
                  </a:txBody>
                  <a:tcPr marL="91431" marR="91431" marT="45702" marB="45702"/>
                </a:tc>
                <a:extLst>
                  <a:ext uri="{0D108BD9-81ED-4DB2-BD59-A6C34878D82A}">
                    <a16:rowId xmlns:a16="http://schemas.microsoft.com/office/drawing/2014/main" val="3471988454"/>
                  </a:ext>
                </a:extLst>
              </a:tr>
              <a:tr h="509796">
                <a:tc>
                  <a:txBody>
                    <a:bodyPr/>
                    <a:lstStyle/>
                    <a:p>
                      <a:r>
                        <a:rPr lang="en-IN" sz="1800" dirty="0"/>
                        <a:t>Student Record Search</a:t>
                      </a:r>
                    </a:p>
                  </a:txBody>
                  <a:tcPr marL="91431" marR="91431" marT="45702" marB="45702"/>
                </a:tc>
                <a:tc>
                  <a:txBody>
                    <a:bodyPr/>
                    <a:lstStyle/>
                    <a:p>
                      <a:r>
                        <a:rPr lang="en-IN" sz="1800" dirty="0"/>
                        <a:t>~2–5 min</a:t>
                      </a:r>
                    </a:p>
                  </a:txBody>
                  <a:tcPr marL="91431" marR="91431" marT="45702" marB="45702"/>
                </a:tc>
                <a:tc>
                  <a:txBody>
                    <a:bodyPr/>
                    <a:lstStyle/>
                    <a:p>
                      <a:r>
                        <a:rPr lang="en-IN" sz="1800" dirty="0"/>
                        <a:t>~5–10 sec</a:t>
                      </a:r>
                    </a:p>
                  </a:txBody>
                  <a:tcPr marL="91431" marR="91431" marT="45702" marB="45702"/>
                </a:tc>
                <a:tc>
                  <a:txBody>
                    <a:bodyPr/>
                    <a:lstStyle/>
                    <a:p>
                      <a:pPr>
                        <a:buNone/>
                      </a:pPr>
                      <a:r>
                        <a:rPr lang="en-IN" sz="1800" dirty="0"/>
                        <a:t>Faster retrieval</a:t>
                      </a:r>
                    </a:p>
                  </a:txBody>
                  <a:tcPr marL="91431" marR="91431" marT="45702" marB="45702" anchor="ctr"/>
                </a:tc>
                <a:extLst>
                  <a:ext uri="{0D108BD9-81ED-4DB2-BD59-A6C34878D82A}">
                    <a16:rowId xmlns:a16="http://schemas.microsoft.com/office/drawing/2014/main" val="2954145129"/>
                  </a:ext>
                </a:extLst>
              </a:tr>
              <a:tr h="639441">
                <a:tc>
                  <a:txBody>
                    <a:bodyPr/>
                    <a:lstStyle/>
                    <a:p>
                      <a:r>
                        <a:rPr lang="en-US" sz="1800" dirty="0"/>
                        <a:t>Room Allocation</a:t>
                      </a:r>
                      <a:endParaRPr lang="en-IN" sz="1800" dirty="0"/>
                    </a:p>
                  </a:txBody>
                  <a:tcPr marL="91431" marR="91431" marT="45702" marB="45702"/>
                </a:tc>
                <a:tc>
                  <a:txBody>
                    <a:bodyPr/>
                    <a:lstStyle/>
                    <a:p>
                      <a:r>
                        <a:rPr lang="en-US" sz="1800" dirty="0"/>
                        <a:t>~10-15 min</a:t>
                      </a:r>
                      <a:endParaRPr lang="en-IN" sz="1800" dirty="0"/>
                    </a:p>
                  </a:txBody>
                  <a:tcPr marL="91431" marR="91431" marT="45702" marB="45702"/>
                </a:tc>
                <a:tc>
                  <a:txBody>
                    <a:bodyPr/>
                    <a:lstStyle/>
                    <a:p>
                      <a:r>
                        <a:rPr lang="en-US" sz="1800" dirty="0"/>
                        <a:t>~1-2 min</a:t>
                      </a:r>
                      <a:endParaRPr lang="en-IN" sz="1800" dirty="0"/>
                    </a:p>
                  </a:txBody>
                  <a:tcPr marL="91431" marR="91431" marT="45702" marB="45702"/>
                </a:tc>
                <a:tc>
                  <a:txBody>
                    <a:bodyPr/>
                    <a:lstStyle/>
                    <a:p>
                      <a:r>
                        <a:rPr lang="en-US" sz="1800" dirty="0"/>
                        <a:t>Reduced processing time</a:t>
                      </a:r>
                      <a:endParaRPr lang="en-IN" sz="1800" dirty="0"/>
                    </a:p>
                  </a:txBody>
                  <a:tcPr marL="91431" marR="91431" marT="45702" marB="45702"/>
                </a:tc>
                <a:extLst>
                  <a:ext uri="{0D108BD9-81ED-4DB2-BD59-A6C34878D82A}">
                    <a16:rowId xmlns:a16="http://schemas.microsoft.com/office/drawing/2014/main" val="2777704477"/>
                  </a:ext>
                </a:extLst>
              </a:tr>
              <a:tr h="509796">
                <a:tc>
                  <a:txBody>
                    <a:bodyPr/>
                    <a:lstStyle/>
                    <a:p>
                      <a:r>
                        <a:rPr lang="en-US" sz="1800" dirty="0"/>
                        <a:t>Booking Record Access</a:t>
                      </a:r>
                      <a:endParaRPr lang="en-IN" sz="1800" dirty="0"/>
                    </a:p>
                  </a:txBody>
                  <a:tcPr marL="91431" marR="91431" marT="45702" marB="45702"/>
                </a:tc>
                <a:tc>
                  <a:txBody>
                    <a:bodyPr/>
                    <a:lstStyle/>
                    <a:p>
                      <a:r>
                        <a:rPr lang="en-US" sz="1800" dirty="0"/>
                        <a:t>~5 min</a:t>
                      </a:r>
                      <a:endParaRPr lang="en-IN" sz="1800" dirty="0"/>
                    </a:p>
                  </a:txBody>
                  <a:tcPr marL="91431" marR="91431" marT="45702" marB="45702"/>
                </a:tc>
                <a:tc>
                  <a:txBody>
                    <a:bodyPr/>
                    <a:lstStyle/>
                    <a:p>
                      <a:r>
                        <a:rPr lang="en-IN" sz="1800" dirty="0"/>
                        <a:t>~10 sec</a:t>
                      </a:r>
                    </a:p>
                  </a:txBody>
                  <a:tcPr marL="91431" marR="91431" marT="45702" marB="45702"/>
                </a:tc>
                <a:tc>
                  <a:txBody>
                    <a:bodyPr/>
                    <a:lstStyle/>
                    <a:p>
                      <a:r>
                        <a:rPr lang="en-IN" sz="1800" dirty="0"/>
                        <a:t>Faster access</a:t>
                      </a:r>
                    </a:p>
                  </a:txBody>
                  <a:tcPr marL="91431" marR="91431" marT="45702" marB="45702"/>
                </a:tc>
                <a:extLst>
                  <a:ext uri="{0D108BD9-81ED-4DB2-BD59-A6C34878D82A}">
                    <a16:rowId xmlns:a16="http://schemas.microsoft.com/office/drawing/2014/main" val="1638105331"/>
                  </a:ext>
                </a:extLst>
              </a:tr>
              <a:tr h="509796">
                <a:tc>
                  <a:txBody>
                    <a:bodyPr/>
                    <a:lstStyle/>
                    <a:p>
                      <a:r>
                        <a:rPr lang="en-IN" sz="1800" dirty="0"/>
                        <a:t>Complaint Tracking</a:t>
                      </a:r>
                    </a:p>
                  </a:txBody>
                  <a:tcPr marL="91431" marR="91431" marT="45702" marB="45702"/>
                </a:tc>
                <a:tc>
                  <a:txBody>
                    <a:bodyPr/>
                    <a:lstStyle/>
                    <a:p>
                      <a:r>
                        <a:rPr lang="en-IN" sz="1800" dirty="0"/>
                        <a:t>Manual follow-up</a:t>
                      </a:r>
                    </a:p>
                  </a:txBody>
                  <a:tcPr marL="91431" marR="91431" marT="45702" marB="45702"/>
                </a:tc>
                <a:tc>
                  <a:txBody>
                    <a:bodyPr/>
                    <a:lstStyle/>
                    <a:p>
                      <a:r>
                        <a:rPr lang="en-IN" sz="1800" dirty="0"/>
                        <a:t>Online status</a:t>
                      </a:r>
                    </a:p>
                  </a:txBody>
                  <a:tcPr marL="91431" marR="91431" marT="45702" marB="45702"/>
                </a:tc>
                <a:tc>
                  <a:txBody>
                    <a:bodyPr/>
                    <a:lstStyle/>
                    <a:p>
                      <a:r>
                        <a:rPr lang="en-IN" sz="1800" dirty="0"/>
                        <a:t>Easier tracking</a:t>
                      </a:r>
                    </a:p>
                  </a:txBody>
                  <a:tcPr marL="91431" marR="91431" marT="45702" marB="45702"/>
                </a:tc>
                <a:extLst>
                  <a:ext uri="{0D108BD9-81ED-4DB2-BD59-A6C34878D82A}">
                    <a16:rowId xmlns:a16="http://schemas.microsoft.com/office/drawing/2014/main" val="3007558943"/>
                  </a:ext>
                </a:extLst>
              </a:tr>
              <a:tr h="661523">
                <a:tc>
                  <a:txBody>
                    <a:bodyPr/>
                    <a:lstStyle/>
                    <a:p>
                      <a:r>
                        <a:rPr lang="en-IN" sz="1800" dirty="0"/>
                        <a:t>Payment Record Management</a:t>
                      </a:r>
                    </a:p>
                  </a:txBody>
                  <a:tcPr marL="91431" marR="91431" marT="45702" marB="45702"/>
                </a:tc>
                <a:tc>
                  <a:txBody>
                    <a:bodyPr/>
                    <a:lstStyle/>
                    <a:p>
                      <a:r>
                        <a:rPr lang="en-IN" sz="1800" dirty="0"/>
                        <a:t>Paper/Spreadsheet</a:t>
                      </a:r>
                    </a:p>
                  </a:txBody>
                  <a:tcPr marL="91431" marR="91431" marT="45702" marB="45702"/>
                </a:tc>
                <a:tc>
                  <a:txBody>
                    <a:bodyPr/>
                    <a:lstStyle/>
                    <a:p>
                      <a:r>
                        <a:rPr lang="en-IN" sz="1800" dirty="0"/>
                        <a:t>Centralized database</a:t>
                      </a:r>
                    </a:p>
                  </a:txBody>
                  <a:tcPr marL="91431" marR="91431" marT="45702" marB="45702"/>
                </a:tc>
                <a:tc>
                  <a:txBody>
                    <a:bodyPr/>
                    <a:lstStyle/>
                    <a:p>
                      <a:r>
                        <a:rPr lang="en-IN" sz="1800" dirty="0"/>
                        <a:t>Reduced duplication</a:t>
                      </a:r>
                    </a:p>
                  </a:txBody>
                  <a:tcPr marL="91431" marR="91431" marT="45702" marB="45702"/>
                </a:tc>
                <a:extLst>
                  <a:ext uri="{0D108BD9-81ED-4DB2-BD59-A6C34878D82A}">
                    <a16:rowId xmlns:a16="http://schemas.microsoft.com/office/drawing/2014/main" val="2925157448"/>
                  </a:ext>
                </a:extLst>
              </a:tr>
              <a:tr h="661523">
                <a:tc>
                  <a:txBody>
                    <a:bodyPr/>
                    <a:lstStyle/>
                    <a:p>
                      <a:r>
                        <a:rPr lang="en-IN" sz="1800" dirty="0"/>
                        <a:t>Leave Request Processing</a:t>
                      </a:r>
                    </a:p>
                  </a:txBody>
                  <a:tcPr marL="91431" marR="91431" marT="45702" marB="45702"/>
                </a:tc>
                <a:tc>
                  <a:txBody>
                    <a:bodyPr/>
                    <a:lstStyle/>
                    <a:p>
                      <a:r>
                        <a:rPr lang="en-IN" sz="1800" dirty="0"/>
                        <a:t>Manual</a:t>
                      </a:r>
                    </a:p>
                  </a:txBody>
                  <a:tcPr marL="91431" marR="91431" marT="45702" marB="45702"/>
                </a:tc>
                <a:tc>
                  <a:txBody>
                    <a:bodyPr/>
                    <a:lstStyle/>
                    <a:p>
                      <a:r>
                        <a:rPr lang="en-IN" sz="1800" dirty="0"/>
                        <a:t>Online submission</a:t>
                      </a:r>
                    </a:p>
                  </a:txBody>
                  <a:tcPr marL="91431" marR="91431" marT="45702" marB="45702"/>
                </a:tc>
                <a:tc>
                  <a:txBody>
                    <a:bodyPr/>
                    <a:lstStyle/>
                    <a:p>
                      <a:r>
                        <a:rPr lang="en-IN" sz="1800" dirty="0"/>
                        <a:t>Reduced paperwork</a:t>
                      </a:r>
                    </a:p>
                  </a:txBody>
                  <a:tcPr marL="91431" marR="91431" marT="45702" marB="45702"/>
                </a:tc>
                <a:extLst>
                  <a:ext uri="{0D108BD9-81ED-4DB2-BD59-A6C34878D82A}">
                    <a16:rowId xmlns:a16="http://schemas.microsoft.com/office/drawing/2014/main" val="394868726"/>
                  </a:ext>
                </a:extLst>
              </a:tr>
              <a:tr h="661523">
                <a:tc>
                  <a:txBody>
                    <a:bodyPr/>
                    <a:lstStyle/>
                    <a:p>
                      <a:r>
                        <a:rPr lang="en-IN" sz="1800" dirty="0"/>
                        <a:t>Maintenance Request Tracking</a:t>
                      </a:r>
                    </a:p>
                  </a:txBody>
                  <a:tcPr marL="91431" marR="91431" marT="45702" marB="45702"/>
                </a:tc>
                <a:tc>
                  <a:txBody>
                    <a:bodyPr/>
                    <a:lstStyle/>
                    <a:p>
                      <a:r>
                        <a:rPr lang="en-IN" sz="1800" dirty="0"/>
                        <a:t>Manual</a:t>
                      </a:r>
                    </a:p>
                  </a:txBody>
                  <a:tcPr marL="91431" marR="91431" marT="45702" marB="45702"/>
                </a:tc>
                <a:tc>
                  <a:txBody>
                    <a:bodyPr/>
                    <a:lstStyle/>
                    <a:p>
                      <a:r>
                        <a:rPr lang="en-IN" sz="1800" dirty="0"/>
                        <a:t>Online status tracking</a:t>
                      </a:r>
                    </a:p>
                  </a:txBody>
                  <a:tcPr marL="91431" marR="91431" marT="45702" marB="45702"/>
                </a:tc>
                <a:tc>
                  <a:txBody>
                    <a:bodyPr/>
                    <a:lstStyle/>
                    <a:p>
                      <a:r>
                        <a:rPr lang="en-IN" sz="1800" dirty="0"/>
                        <a:t>Better monitoring</a:t>
                      </a:r>
                    </a:p>
                  </a:txBody>
                  <a:tcPr marL="91431" marR="91431" marT="45702" marB="45702"/>
                </a:tc>
                <a:extLst>
                  <a:ext uri="{0D108BD9-81ED-4DB2-BD59-A6C34878D82A}">
                    <a16:rowId xmlns:a16="http://schemas.microsoft.com/office/drawing/2014/main" val="850877211"/>
                  </a:ext>
                </a:extLst>
              </a:tr>
            </a:tbl>
          </a:graphicData>
        </a:graphic>
      </p:graphicFrame>
      <p:sp>
        <p:nvSpPr>
          <p:cNvPr id="5" name="Rectangle 4">
            <a:extLst>
              <a:ext uri="{FF2B5EF4-FFF2-40B4-BE49-F238E27FC236}">
                <a16:creationId xmlns:a16="http://schemas.microsoft.com/office/drawing/2014/main" id="{F6CEEDEE-94B1-9D6B-D310-9950D7C35756}"/>
              </a:ext>
            </a:extLst>
          </p:cNvPr>
          <p:cNvSpPr/>
          <p:nvPr/>
        </p:nvSpPr>
        <p:spPr>
          <a:xfrm>
            <a:off x="0" y="29118"/>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488AAB17-3BCE-0FE0-5D46-A4FE4CEE8983}"/>
              </a:ext>
            </a:extLst>
          </p:cNvPr>
          <p:cNvSpPr/>
          <p:nvPr/>
        </p:nvSpPr>
        <p:spPr>
          <a:xfrm>
            <a:off x="112295" y="6074903"/>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6466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C3EA7-2A71-1BCD-7A14-7E335B115636}"/>
              </a:ext>
            </a:extLst>
          </p:cNvPr>
          <p:cNvSpPr>
            <a:spLocks noGrp="1"/>
          </p:cNvSpPr>
          <p:nvPr>
            <p:ph type="title"/>
          </p:nvPr>
        </p:nvSpPr>
        <p:spPr>
          <a:xfrm>
            <a:off x="838200" y="753979"/>
            <a:ext cx="10515600" cy="936709"/>
          </a:xfrm>
        </p:spPr>
        <p:txBody>
          <a:bodyPr/>
          <a:lstStyle/>
          <a:p>
            <a:r>
              <a:rPr lang="en-US" dirty="0"/>
              <a:t>TECHNICAL COMPETENCE</a:t>
            </a:r>
            <a:endParaRPr lang="en-IN" dirty="0"/>
          </a:p>
        </p:txBody>
      </p:sp>
      <p:sp>
        <p:nvSpPr>
          <p:cNvPr id="3" name="Content Placeholder 2">
            <a:extLst>
              <a:ext uri="{FF2B5EF4-FFF2-40B4-BE49-F238E27FC236}">
                <a16:creationId xmlns:a16="http://schemas.microsoft.com/office/drawing/2014/main" id="{44A72EDF-E12C-2E07-4101-274549A6D3C0}"/>
              </a:ext>
            </a:extLst>
          </p:cNvPr>
          <p:cNvSpPr>
            <a:spLocks noGrp="1"/>
          </p:cNvSpPr>
          <p:nvPr>
            <p:ph idx="1"/>
          </p:nvPr>
        </p:nvSpPr>
        <p:spPr>
          <a:xfrm>
            <a:off x="838200" y="2444667"/>
            <a:ext cx="10515600" cy="4226426"/>
          </a:xfrm>
        </p:spPr>
        <p:txBody>
          <a:bodyPr/>
          <a:lstStyle/>
          <a:p>
            <a:pPr marL="0" indent="0">
              <a:buNone/>
            </a:pPr>
            <a:r>
              <a:rPr lang="en-IN" dirty="0"/>
              <a:t>The project demonstrates technical competence through the use of Next.js, TypeScript, MongoDB, and Prisma ORM to develop a structured hostel management system. It implements role-based authentication, REST APIs, database validation, CRUD operations, and separate Student and Admin dashboards for managing hostel services efficiently.</a:t>
            </a:r>
          </a:p>
        </p:txBody>
      </p:sp>
      <p:sp>
        <p:nvSpPr>
          <p:cNvPr id="5" name="Rectangle 4">
            <a:extLst>
              <a:ext uri="{FF2B5EF4-FFF2-40B4-BE49-F238E27FC236}">
                <a16:creationId xmlns:a16="http://schemas.microsoft.com/office/drawing/2014/main" id="{12B1C5BA-0FCC-815C-489B-8F9AEBD53CE4}"/>
              </a:ext>
            </a:extLst>
          </p:cNvPr>
          <p:cNvSpPr/>
          <p:nvPr/>
        </p:nvSpPr>
        <p:spPr>
          <a:xfrm>
            <a:off x="0" y="0"/>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841348A-6111-D132-FAF2-7E842C070621}"/>
              </a:ext>
            </a:extLst>
          </p:cNvPr>
          <p:cNvSpPr/>
          <p:nvPr/>
        </p:nvSpPr>
        <p:spPr>
          <a:xfrm>
            <a:off x="0" y="6052051"/>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77283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A5D7-6665-93D9-CDB7-BAC9F376AFF4}"/>
              </a:ext>
            </a:extLst>
          </p:cNvPr>
          <p:cNvSpPr>
            <a:spLocks noGrp="1"/>
          </p:cNvSpPr>
          <p:nvPr>
            <p:ph type="title"/>
          </p:nvPr>
        </p:nvSpPr>
        <p:spPr>
          <a:xfrm>
            <a:off x="838200" y="753979"/>
            <a:ext cx="10515600" cy="936709"/>
          </a:xfrm>
        </p:spPr>
        <p:txBody>
          <a:bodyPr/>
          <a:lstStyle/>
          <a:p>
            <a:r>
              <a:rPr lang="en-US" dirty="0"/>
              <a:t>INNOVATIVE AND SUSTAINABLE FEATURES</a:t>
            </a:r>
            <a:endParaRPr lang="en-IN" dirty="0"/>
          </a:p>
        </p:txBody>
      </p:sp>
      <p:sp>
        <p:nvSpPr>
          <p:cNvPr id="3" name="Content Placeholder 2">
            <a:extLst>
              <a:ext uri="{FF2B5EF4-FFF2-40B4-BE49-F238E27FC236}">
                <a16:creationId xmlns:a16="http://schemas.microsoft.com/office/drawing/2014/main" id="{CAB3FB4F-A44D-1521-3B35-D5558F4B5F40}"/>
              </a:ext>
            </a:extLst>
          </p:cNvPr>
          <p:cNvSpPr>
            <a:spLocks noGrp="1"/>
          </p:cNvSpPr>
          <p:nvPr>
            <p:ph idx="1"/>
          </p:nvPr>
        </p:nvSpPr>
        <p:spPr>
          <a:xfrm>
            <a:off x="838200" y="2202614"/>
            <a:ext cx="10515600" cy="4278396"/>
          </a:xfrm>
        </p:spPr>
        <p:txBody>
          <a:bodyPr/>
          <a:lstStyle/>
          <a:p>
            <a:pPr marL="0" indent="0">
              <a:buNone/>
            </a:pPr>
            <a:r>
              <a:rPr lang="en-IN" dirty="0"/>
              <a:t>The Hostel Management System provides innovative features such as role-based student and admin dashboards, centralized hostel data, online room allocation, bookings, payments, leave requests, complaints, and maintenance tracking. Its sustainable approach reduces paperwork, manual record keeping, and unnecessary office visits, saving time and resources while supporting efficient and environmentally friendly hostel administration.</a:t>
            </a:r>
          </a:p>
          <a:p>
            <a:pPr marL="0" indent="0">
              <a:buNone/>
            </a:pPr>
            <a:endParaRPr lang="en-IN" dirty="0"/>
          </a:p>
        </p:txBody>
      </p:sp>
      <p:sp>
        <p:nvSpPr>
          <p:cNvPr id="5" name="Rectangle 4">
            <a:extLst>
              <a:ext uri="{FF2B5EF4-FFF2-40B4-BE49-F238E27FC236}">
                <a16:creationId xmlns:a16="http://schemas.microsoft.com/office/drawing/2014/main" id="{070AC8F7-B008-A40A-4833-5188170541A8}"/>
              </a:ext>
            </a:extLst>
          </p:cNvPr>
          <p:cNvSpPr/>
          <p:nvPr/>
        </p:nvSpPr>
        <p:spPr>
          <a:xfrm>
            <a:off x="0" y="0"/>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87675A4-FFE6-C6AB-9BBE-D3D4470CEB58}"/>
              </a:ext>
            </a:extLst>
          </p:cNvPr>
          <p:cNvSpPr/>
          <p:nvPr/>
        </p:nvSpPr>
        <p:spPr>
          <a:xfrm>
            <a:off x="0" y="6104021"/>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31225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321E8-3804-9FCA-C066-C0E9FD37AFD8}"/>
              </a:ext>
            </a:extLst>
          </p:cNvPr>
          <p:cNvSpPr>
            <a:spLocks noGrp="1"/>
          </p:cNvSpPr>
          <p:nvPr>
            <p:ph type="title"/>
          </p:nvPr>
        </p:nvSpPr>
        <p:spPr>
          <a:xfrm>
            <a:off x="838200" y="681037"/>
            <a:ext cx="10515600" cy="1009651"/>
          </a:xfrm>
        </p:spPr>
        <p:txBody>
          <a:bodyPr/>
          <a:lstStyle/>
          <a:p>
            <a:r>
              <a:rPr lang="en-US" dirty="0"/>
              <a:t>UTILITY TO SOCIETY</a:t>
            </a:r>
            <a:endParaRPr lang="en-IN" dirty="0"/>
          </a:p>
        </p:txBody>
      </p:sp>
      <p:sp>
        <p:nvSpPr>
          <p:cNvPr id="3" name="Content Placeholder 2">
            <a:extLst>
              <a:ext uri="{FF2B5EF4-FFF2-40B4-BE49-F238E27FC236}">
                <a16:creationId xmlns:a16="http://schemas.microsoft.com/office/drawing/2014/main" id="{9E4F829E-00BA-5ABE-3841-A89FDF60564C}"/>
              </a:ext>
            </a:extLst>
          </p:cNvPr>
          <p:cNvSpPr>
            <a:spLocks noGrp="1"/>
          </p:cNvSpPr>
          <p:nvPr>
            <p:ph idx="1"/>
          </p:nvPr>
        </p:nvSpPr>
        <p:spPr>
          <a:xfrm>
            <a:off x="838200" y="2402388"/>
            <a:ext cx="10515600" cy="4351338"/>
          </a:xfrm>
        </p:spPr>
        <p:txBody>
          <a:bodyPr/>
          <a:lstStyle/>
          <a:p>
            <a:pPr marL="0" indent="0">
              <a:buNone/>
            </a:pPr>
            <a:r>
              <a:rPr lang="en-IN" dirty="0"/>
              <a:t>The Hostel Management System benefits society by providing students with easy and transparent access to hostel services while reducing paperwork and manual work. It saves time, improves communication between students and administrators, and supports efficient management of rooms, bookings, payments, leave requests, complaints, and maintenance.</a:t>
            </a:r>
          </a:p>
        </p:txBody>
      </p:sp>
      <p:sp>
        <p:nvSpPr>
          <p:cNvPr id="5" name="Rectangle 4">
            <a:extLst>
              <a:ext uri="{FF2B5EF4-FFF2-40B4-BE49-F238E27FC236}">
                <a16:creationId xmlns:a16="http://schemas.microsoft.com/office/drawing/2014/main" id="{1F31A4DA-C0DA-FA00-35DD-55BB811B24AF}"/>
              </a:ext>
            </a:extLst>
          </p:cNvPr>
          <p:cNvSpPr/>
          <p:nvPr/>
        </p:nvSpPr>
        <p:spPr>
          <a:xfrm>
            <a:off x="0" y="0"/>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74376983-0578-8566-B25A-C2B2E26CF24D}"/>
              </a:ext>
            </a:extLst>
          </p:cNvPr>
          <p:cNvSpPr/>
          <p:nvPr/>
        </p:nvSpPr>
        <p:spPr>
          <a:xfrm>
            <a:off x="0" y="6104021"/>
            <a:ext cx="12192000" cy="75397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68667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290</Words>
  <Application>Microsoft Office PowerPoint</Application>
  <PresentationFormat>Widescreen</PresentationFormat>
  <Paragraphs>47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ACCURACY OF RESULTS</vt:lpstr>
      <vt:lpstr>TECHNICAL COMPETENCE</vt:lpstr>
      <vt:lpstr>INNOVATIVE AND SUSTAINABLE FEATURES</vt:lpstr>
      <vt:lpstr>UTILITY TO SOCIETY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Usha Rani Kuppa</dc:creator>
  <cp:lastModifiedBy>Usha Rani Kuppa</cp:lastModifiedBy>
  <cp:revision>1</cp:revision>
  <dcterms:created xsi:type="dcterms:W3CDTF">2026-10-02T04:19:20Z</dcterms:created>
  <dcterms:modified xsi:type="dcterms:W3CDTF">2026-10-02T18:16:06Z</dcterms:modified>
</cp:coreProperties>
</file>